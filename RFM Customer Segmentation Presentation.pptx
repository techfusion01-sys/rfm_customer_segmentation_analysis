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431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RFM Customer Segmentation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59868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High-Value and At-Risk Customers in the Online Retail II Dataset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984971"/>
            <a:ext cx="1794867" cy="215354"/>
          </a:xfrm>
          <a:prstGeom prst="roundRect">
            <a:avLst>
              <a:gd name="adj" fmla="val 7900"/>
            </a:avLst>
          </a:prstGeom>
          <a:solidFill>
            <a:srgbClr val="110745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3027462"/>
            <a:ext cx="208195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· PYTHON · POWER BI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361828" y="2984971"/>
            <a:ext cx="956593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6883" y="3027462"/>
            <a:ext cx="124368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220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5,837 Customers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net spend analyzed via RFM + K-Means clustering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 Segments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Core, At-Risk, Wholesale High-Value, Wholesale Extreme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377678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2519437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 Key Opportunities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825948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 for high-value; re-engage at-risk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83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Question &amp; Objective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8050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Question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1210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customers are most valuable? Which are at risk? Which need a different approach?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5152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RFM?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85579"/>
            <a:ext cx="815176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transaction history only — no external data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explain to stakeholders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basis for unsupervised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92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&amp; Methodology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8577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4647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Source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452985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UCI Online Retail II — ~1.07M UK invoice rows, 2009–2011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68577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14647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452985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Recency, Frequency, Monetary per customer via MySQL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424014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730526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R/F/M, K-Means (scikit-learn), K=4 via Elbow Method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424014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730526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 — segment KPIs, scatter plots, trends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6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Finding 1: Choosing K — The Elbow Method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1629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K=4?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5035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Inertia plotted for K=1–10. Steepest improvement at K=3–4, flattening afterward.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72060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D6D9D7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939132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K=4 Over K=3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337318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Extreme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wholesale outliers (~$422K avg)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42 High-Value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(~$68K avg) — a distinction with real operational meaning.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44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Finding 2: Four Segments &amp; a Skewed Base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20974"/>
            <a:ext cx="8151763" cy="2041773"/>
          </a:xfrm>
          <a:prstGeom prst="roundRect">
            <a:avLst>
              <a:gd name="adj" fmla="val 104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72573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815554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4919" y="18155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90504" y="18155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6089" y="18155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21674" y="1815554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Monetary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13218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222004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4919" y="222200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3,837 (66%)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90504" y="222200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 days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6089" y="222200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8.7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21674" y="2222004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$2,825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53863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2628454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 / Lost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4919" y="26284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1,954 (33%)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90504" y="26284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460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6089" y="2628454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 orders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21674" y="2628454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0881" y="294508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2714" y="3034903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Wholesale – High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4919" y="303490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(&lt;1%)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90504" y="303490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days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6089" y="303490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121 orders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21674" y="3034903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$67,850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0881" y="335153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2714" y="3441353"/>
            <a:ext cx="24511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Wholesale – Extreme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4919" y="344135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(&lt;1%)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0504" y="344135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6089" y="344135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257 orders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21674" y="3441353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$422,093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6119" y="392221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Wholesale segments are &lt;1% of customers but spend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1–2 orders of magnitude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above Core.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817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Finding 3: Seasonal Pattern &amp; At-Risk Opportunity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66752"/>
            <a:ext cx="4004965" cy="130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627561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October–November Spike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934072"/>
            <a:ext cx="36071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customer counts rise — consistent with pre-Christmas gift buying. Verified against raw transaction dates.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466752"/>
            <a:ext cx="4005039" cy="13085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627561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At-Risk Scale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934072"/>
            <a:ext cx="36072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~2,000 customers (33% of base) inactive 460+ days, yet historically averaged 2.6 orders. A strong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6D9D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win-back candidate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write-off.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5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57089"/>
            <a:ext cx="4004965" cy="1507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Dedicated Account Managers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Wholesale customers need personalized relationship management, not standard marketing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57089"/>
            <a:ext cx="4005039" cy="15070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455837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Win-Back Campaign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1,954 At-Risk customers — proven spenders, inactive 460+ days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07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Validate Seasonality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Oct–Nov spike against product category mix before assuming cause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07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462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 Cancellations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cancellation-rate feature rather than excluding negative-Monetary customers outright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5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Known Limitations &amp; Next Steps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445916"/>
            <a:ext cx="212601" cy="212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441525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Cancelled Orders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748037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"C"-prefixed invoices excluded; cancellation-rate feature is a natural extension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564" y="2445916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441525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Static Reference Date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748037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Recency uses dataset's final date; live system needs daily rolling update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79" y="2445916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441525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Re-Validation Required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748037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K=4 and segment names should be re-validated on updated data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220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377678"/>
            <a:ext cx="8151763" cy="1043657"/>
          </a:xfrm>
          <a:prstGeom prst="roundRect">
            <a:avLst>
              <a:gd name="adj" fmla="val 2038"/>
            </a:avLst>
          </a:prstGeom>
          <a:solidFill>
            <a:srgbClr val="4C5052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377678"/>
            <a:ext cx="2717229" cy="1043657"/>
          </a:xfrm>
          <a:custGeom>
            <a:avLst/>
            <a:gdLst/>
            <a:ahLst/>
            <a:cxnLst/>
            <a:rect l="l" t="t" r="r" b="b"/>
            <a:pathLst>
              <a:path w="2717229" h="1043657">
                <a:moveTo>
                  <a:pt x="17721" y="0"/>
                </a:moveTo>
                <a:lnTo>
                  <a:pt x="2717229" y="0"/>
                </a:lnTo>
                <a:lnTo>
                  <a:pt x="2717229" y="1043657"/>
                </a:lnTo>
                <a:lnTo>
                  <a:pt x="17721" y="1043657"/>
                </a:lnTo>
                <a:arcTo hR="17721" wR="17721" stAng="5400000" swAng="5400000"/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51943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Disproportionate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82594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&lt;1% of customers carry massive revenue — protect them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2377678"/>
            <a:ext cx="2717229" cy="1043657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2377678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65696B"/>
          </a:solidFill>
          <a:ln/>
        </p:spPr>
      </p:sp>
      <p:sp>
        <p:nvSpPr>
          <p:cNvPr id="9" name="Text 7"/>
          <p:cNvSpPr/>
          <p:nvPr/>
        </p:nvSpPr>
        <p:spPr>
          <a:xfrm>
            <a:off x="3355107" y="251943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Hidden Inactivity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82594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33% of base went silent without obvious cause — recoverable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2377678"/>
            <a:ext cx="2717229" cy="1043657"/>
          </a:xfrm>
          <a:custGeom>
            <a:avLst/>
            <a:gdLst/>
            <a:ahLst/>
            <a:cxnLst/>
            <a:rect l="l" t="t" r="r" b="b"/>
            <a:pathLst>
              <a:path w="2717229" h="1043657">
                <a:moveTo>
                  <a:pt x="0" y="0"/>
                </a:moveTo>
                <a:lnTo>
                  <a:pt x="2699509" y="0"/>
                </a:lnTo>
                <a:arcTo hR="17721" wR="17721" stAng="16200000" swAng="5400000"/>
                <a:lnTo>
                  <a:pt x="2717229" y="1025936"/>
                </a:lnTo>
                <a:arcTo hR="17721" wR="17721" stAng="0" swAng="5400000"/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2377678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65696B"/>
          </a:solidFill>
          <a:ln/>
        </p:spPr>
      </p:sp>
      <p:sp>
        <p:nvSpPr>
          <p:cNvPr id="13" name="Text 11"/>
          <p:cNvSpPr/>
          <p:nvPr/>
        </p:nvSpPr>
        <p:spPr>
          <a:xfrm>
            <a:off x="6072336" y="2519437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Data-Driven Defense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825948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+ K-Means provides defensible segments over arbitrary thresholds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2026-08-16T13:15:00Z</dcterms:created>
  <dcterms:modified xsi:type="dcterms:W3CDTF">2026-08-16T13:15:00Z</dcterms:modified>
</cp:coreProperties>
</file>